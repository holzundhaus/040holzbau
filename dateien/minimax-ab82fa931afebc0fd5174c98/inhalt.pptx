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holzbau.wordpress.com/2026/10/16/freistehend-oder-am-haus-terrassenueberdachung-tragwerk/" TargetMode="External"/><Relationship Id="rId3" Type="http://schemas.openxmlformats.org/officeDocument/2006/relationships/hyperlink" Target="https://holzundhaus.github.io/040holzbau/dateien/minimax-ab82fa931afebc0fd5174c9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Freistehend oder am Haus: Wo die Terrassenüberdachung ihre Lasten abgibt · Erklärende Präsentation</a:t>
            </a:r>
          </a:p>
        </p:txBody>
      </p:sp>
      <p:sp>
        <p:nvSpPr>
          <p:cNvPr id="3" name="Content Placeholder 2"/>
          <p:cNvSpPr>
            <a:spLocks noGrp="1"/>
          </p:cNvSpPr>
          <p:nvPr>
            <p:ph idx="1"/>
          </p:nvPr>
        </p:nvSpPr>
        <p:spPr/>
        <p:txBody>
          <a:bodyPr/>
          <a:lstStyle/>
          <a:p>
            <a:r>
              <a:t>Überblick: Eine Terrassenüberdachung ist mehr als ein Wetterschutz – sie erfordert durchdachte Tragwerksplanung. Die beiden grundlegenden Varianten unterscheiden sich wesentlich in Statik, Befestigung und Bauaufwand. Dieser Ratgeber erklärt die zentralen Planungsschritte von der Lastberechnung bis zur Aussteifung, damit Bauherren die richtige Entscheidung für ihre Situation treffen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Grundlagen der Tragwerksplanung klären</a:t>
            </a:r>
          </a:p>
        </p:txBody>
      </p:sp>
      <p:sp>
        <p:nvSpPr>
          <p:cNvPr id="3" name="Content Placeholder 2"/>
          <p:cNvSpPr>
            <a:spLocks noGrp="1"/>
          </p:cNvSpPr>
          <p:nvPr>
            <p:ph idx="1"/>
          </p:nvPr>
        </p:nvSpPr>
        <p:spPr/>
        <p:txBody>
          <a:bodyPr/>
          <a:lstStyle/>
          <a:p>
            <a:pPr>
              <a:defRPr sz="1800"/>
            </a:pPr>
            <a:r>
              <a:t>Bevor die erste Pfostenposition festgelegt wird, sollten Bauherren die baulichen Rahmenbedingungen kennen. Die Dachfläche einer Überdachung muss Schneelasten, Winddruck und das Eigengewicht sicher in den Untergrund ableiten. Entscheidend ist, ob die Konstruktion freistehend auf eigenen Stützen ruht oder ob ein Anschluss an die Hauswand die Lastabtragung unterstützt. Diese Wahl beeinflusst die gesamte weitere Planung: Fundamentgröße, Wandbefestigung und Aussteifungsmethoden hängen unmittelbar davon ab. Eine frühzeitige Klärung mit einem Statiker oder Fachbetrieb spart spätere Anpassungen und Kosten.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Lastwege bei freistehenden Überdachungen</a:t>
            </a:r>
          </a:p>
        </p:txBody>
      </p:sp>
      <p:sp>
        <p:nvSpPr>
          <p:cNvPr id="3" name="Content Placeholder 2"/>
          <p:cNvSpPr>
            <a:spLocks noGrp="1"/>
          </p:cNvSpPr>
          <p:nvPr>
            <p:ph idx="1"/>
          </p:nvPr>
        </p:nvSpPr>
        <p:spPr/>
        <p:txBody>
          <a:bodyPr/>
          <a:lstStyle/>
          <a:p>
            <a:pPr>
              <a:defRPr sz="1800"/>
            </a:pPr>
            <a:r>
              <a:t>Bei einer freistehenden Variante tragen ausschließlich die Pfosten die einwirkenden Kräfte. Das bedeutet, dass alle vertikalen Lasten aus Dach und Schnee sowie horizontale Kräfte aus Wind über die Stützen in die Fundamente geleitet werden. Der Baugrund spielt hier eine zentrale Rolle: Seine Tragfähigkeit bestimmt, wie tief und breit die Fundamente ausgelegt werden müssen. Bei weniger tragfähigen Böden können zusätzliche Maßnahmen wie Bodenverfestigungen oder größere Fundamentplatten erforderlich sein. Die freistehende Bauweise beansprucht zwar mehr Fläche im Garten, greift dafür nicht in die Hausfassade ein und vermeidet Eingriffe in den Wand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Lastwege bei freistehenden Überdachungen</a:t>
            </a:r>
          </a:p>
        </p:txBody>
      </p:sp>
      <p:sp>
        <p:nvSpPr>
          <p:cNvPr id="3" name="Content Placeholder 2"/>
          <p:cNvSpPr>
            <a:spLocks noGrp="1"/>
          </p:cNvSpPr>
          <p:nvPr>
            <p:ph idx="1"/>
          </p:nvPr>
        </p:nvSpPr>
        <p:spPr/>
        <p:txBody>
          <a:bodyPr/>
          <a:lstStyle/>
          <a:p>
            <a:pPr>
              <a:defRPr sz="1800"/>
            </a:pPr>
            <a:r>
              <a:t>aufbau.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alsLastabtragung nutzen</a:t>
            </a:r>
          </a:p>
        </p:txBody>
      </p:sp>
      <p:sp>
        <p:nvSpPr>
          <p:cNvPr id="3" name="Content Placeholder 2"/>
          <p:cNvSpPr>
            <a:spLocks noGrp="1"/>
          </p:cNvSpPr>
          <p:nvPr>
            <p:ph idx="1"/>
          </p:nvPr>
        </p:nvSpPr>
        <p:spPr/>
        <p:txBody>
          <a:bodyPr/>
          <a:lstStyle/>
          <a:p>
            <a:pPr>
              <a:defRPr sz="1800"/>
            </a:pPr>
            <a:r>
              <a:t>Wird die Terrassenüberdachung an der Hauswand befestigt, kann ein Teil der Dachlast über den Wandanschluss abgeleitet werden. Das setzt voraus, dass die Befestigungsstelle auf dem tragenden Mauerwerk oder einer tragfähigen Holzkonstruktion liegt. Dämmebenen, Verkleidungen oder Putzträger zählen nicht zur Tragstruktur und dürfen nicht für die Befestigung genutzt werden. Vor der Montage muss der Wandaufbau bis zum tragenden Kern untersucht werden. So lassen sich Setzungen, Feuchtigkeitsschäden oder Verformungen der Überdachung vermeiden. Die Anschlusshöhe orientiert sich an der Türschwelle und bestimmt, wie Regenwasser sauber vom Dach weggeleit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alsLastabtragung nutzen</a:t>
            </a:r>
          </a:p>
        </p:txBody>
      </p:sp>
      <p:sp>
        <p:nvSpPr>
          <p:cNvPr id="3" name="Content Placeholder 2"/>
          <p:cNvSpPr>
            <a:spLocks noGrp="1"/>
          </p:cNvSpPr>
          <p:nvPr>
            <p:ph idx="1"/>
          </p:nvPr>
        </p:nvSpPr>
        <p:spPr/>
        <p:txBody>
          <a:bodyPr/>
          <a:lstStyle/>
          <a:p>
            <a:pPr>
              <a:defRPr sz="1800"/>
            </a:pPr>
            <a:r>
              <a:t>et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Aussteifung und Horizontalkräfte beherrschen</a:t>
            </a:r>
          </a:p>
        </p:txBody>
      </p:sp>
      <p:sp>
        <p:nvSpPr>
          <p:cNvPr id="3" name="Content Placeholder 2"/>
          <p:cNvSpPr>
            <a:spLocks noGrp="1"/>
          </p:cNvSpPr>
          <p:nvPr>
            <p:ph idx="1"/>
          </p:nvPr>
        </p:nvSpPr>
        <p:spPr/>
        <p:txBody>
          <a:bodyPr/>
          <a:lstStyle/>
          <a:p>
            <a:pPr>
              <a:defRPr sz="1800"/>
            </a:pPr>
            <a:r>
              <a:t>Jede Überdachung muss nicht nur vertikale Lasten, sondern auch Horizontalkräfte aus Wind abtragen. Bei freistehenden Konstruktionen übernehmen spezielle Auskreuzungen oder Verbände zwischen den Pfosten diese Aufgabe. Bei angeschlossenen Varianten teilen sich Wandanschluss und Pfosten die Aussteifung. Werden Pfostenfundamente unterschiedlich belastet oder setzen sich ungleichmäßig, können Schiefstellungen entstehen. Riegelverbindungen, Diagonalstreben und steife Anschlussdetails sorgen für einen standsicheren Verbund. Die Aussteifungsmaßnahmen sollten von Anfang an in die Planung einkalkuliert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Wasserableitung von Anfang mitdenken</a:t>
            </a:r>
          </a:p>
        </p:txBody>
      </p:sp>
      <p:sp>
        <p:nvSpPr>
          <p:cNvPr id="3" name="Content Placeholder 2"/>
          <p:cNvSpPr>
            <a:spLocks noGrp="1"/>
          </p:cNvSpPr>
          <p:nvPr>
            <p:ph idx="1"/>
          </p:nvPr>
        </p:nvSpPr>
        <p:spPr/>
        <p:txBody>
          <a:bodyPr/>
          <a:lstStyle/>
          <a:p>
            <a:pPr>
              <a:defRPr sz="1800"/>
            </a:pPr>
            <a:r>
              <a:t>Unabhängig von der Bauweise braucht jede Terrassenüberdachung eine geplante Regenwasserableitung. Bei freistehenden Dächern bestimmen Dachneigung, Rinnenführung und Fallrohrposition den Abflussweg. Bei angeschlossenen Überdachungen kommt der Anschlussbereich zwischen Dach und Hauswand hinzu. Eine fachgerechte Tropfkante und eine sorgfältig ausgeführte Anschlussabdichtung verhindern, dass Wasser in die Fassade oder hinter die Dämmung gelangt. Die Lage der Anschlusslinie sollte so gewählt werden, dass Regenwasser gezielt in die Rinne und nicht unkontrolliert an der Wand herabläuft. Die Integration in die bestehende Hausentwässerung spart zusätz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Wasserableitung von Anfang mitdenken</a:t>
            </a:r>
          </a:p>
        </p:txBody>
      </p:sp>
      <p:sp>
        <p:nvSpPr>
          <p:cNvPr id="3" name="Content Placeholder 2"/>
          <p:cNvSpPr>
            <a:spLocks noGrp="1"/>
          </p:cNvSpPr>
          <p:nvPr>
            <p:ph idx="1"/>
          </p:nvPr>
        </p:nvSpPr>
        <p:spPr/>
        <p:txBody>
          <a:bodyPr/>
          <a:lstStyle/>
          <a:p>
            <a:pPr>
              <a:defRPr sz="1800"/>
            </a:pPr>
            <a:r>
              <a:t>liche Fallrohre und sorgt für ein einheitliches Erscheinungsbild.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Freistehend oder am Haus: Wo die Terrassenüberdachung ihre Lasten abgibt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