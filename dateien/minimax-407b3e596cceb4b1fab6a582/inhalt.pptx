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040holzbau/-/blob/bb5770b6c08ebb3851160a2364aa11b94ae1612f/_posts/2026-10-16-holzbalkendecke-trittschall-verbessern.md" TargetMode="External"/><Relationship Id="rId3" Type="http://schemas.openxmlformats.org/officeDocument/2006/relationships/hyperlink" Target="https://holzundhaus.github.io/040holzbau/dateien/minimax-407b3e596cceb4b1fab6a58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Trittschall an der Holzbalkendecke: was im Bestand wirklich hilft – und wo Sanierungen an Grenzen stoßen · Erklärende Präsentation</a:t>
            </a:r>
          </a:p>
        </p:txBody>
      </p:sp>
      <p:sp>
        <p:nvSpPr>
          <p:cNvPr id="3" name="Content Placeholder 2"/>
          <p:cNvSpPr>
            <a:spLocks noGrp="1"/>
          </p:cNvSpPr>
          <p:nvPr>
            <p:ph idx="1"/>
          </p:nvPr>
        </p:nvSpPr>
        <p:spPr/>
        <p:txBody>
          <a:bodyPr/>
          <a:lstStyle/>
          <a:p>
            <a:r>
              <a:t>Überblick: Holzbalkendecken gehören zu den ältesten und charakteristischen Deckenkonstruktionen im Bestand. Ihr Schwingungsverhalten unterscheidet sich grundlegend von Massivdecken, weshalb Trittschall an Holzbalkendecken andere Ursachen hat und andere Maßnahmen erfordert als bei modernen Betondecken. Wer die Funktionsweise kennt, kann realistisch einschätzen, welche Verbesserungen im eigenen Gebäude möglich sind – und wo der Bestand physikalisch und baulich an Grenzen stößt.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Trittschall und Luftschall: Zwei verschiedene Schallwege</a:t>
            </a:r>
          </a:p>
        </p:txBody>
      </p:sp>
      <p:sp>
        <p:nvSpPr>
          <p:cNvPr id="3" name="Content Placeholder 2"/>
          <p:cNvSpPr>
            <a:spLocks noGrp="1"/>
          </p:cNvSpPr>
          <p:nvPr>
            <p:ph idx="1"/>
          </p:nvPr>
        </p:nvSpPr>
        <p:spPr/>
        <p:txBody>
          <a:bodyPr/>
          <a:lstStyle/>
          <a:p>
            <a:pPr>
              <a:defRPr sz="1800"/>
            </a:pPr>
            <a:r>
              <a:t>Trittschall entsteht, wenn eine direkte mechanische Anregung auf die Decke einwirkt – etwa durch Schritte, verschobene Stühle oder fallende Gegenstände. Luftschall hingegen breitet sich zunächst über die Raumluft aus und trifft erst dann auf trennende Bauteile wie Wände und Decken. Diese Unterscheidung ist entscheidend, weil ein neuer Bodenbelag vor allem die Anregung der Deckenkonstruktion selbst verringert. Die Schallübertragung über flankierende Bauteile – also über die Wände, die an die Holzbalkendecke anschließen – bleibt davon unberührt. In der Praxis zeigt sich das häufig so: Der neue Bodenbelag ist verlegt, die Trittschallminderung fä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Trittschall und Luftschall: Zwei verschiedene Schallwege</a:t>
            </a:r>
          </a:p>
        </p:txBody>
      </p:sp>
      <p:sp>
        <p:nvSpPr>
          <p:cNvPr id="3" name="Content Placeholder 2"/>
          <p:cNvSpPr>
            <a:spLocks noGrp="1"/>
          </p:cNvSpPr>
          <p:nvPr>
            <p:ph idx="1"/>
          </p:nvPr>
        </p:nvSpPr>
        <p:spPr/>
        <p:txBody>
          <a:bodyPr/>
          <a:lstStyle/>
          <a:p>
            <a:pPr>
              <a:defRPr sz="1800"/>
            </a:pPr>
            <a:r>
              <a:t>llt aber enttäuschend gering aus, weil ein erheblicher Anteil des Schalls nach wie vor über die Bauteilränder in den darunterliegenden Raum übertragen wird. Die bewertete Trittschallminderung eines Bodenbelags, angegeben in Dezibel, beschreibt daher nur einen Teil der tatsächlichen Wirkung im eingebauten Zustand.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Schwimmender Aufbau als wirksamster Ansatz an der Bodenebene</a:t>
            </a:r>
          </a:p>
        </p:txBody>
      </p:sp>
      <p:sp>
        <p:nvSpPr>
          <p:cNvPr id="3" name="Content Placeholder 2"/>
          <p:cNvSpPr>
            <a:spLocks noGrp="1"/>
          </p:cNvSpPr>
          <p:nvPr>
            <p:ph idx="1"/>
          </p:nvPr>
        </p:nvSpPr>
        <p:spPr/>
        <p:txBody>
          <a:bodyPr/>
          <a:lstStyle/>
          <a:p>
            <a:pPr>
              <a:defRPr sz="1800"/>
            </a:pPr>
            <a:r>
              <a:t>Der schwimmende Aufbau ist die zentrale Maßnahme zur Verbesserung der Bodenebene. Er trennt den sichtbaren Bodenbelag und gegebenenfalls eine Estrichschicht von der Balkenlage und unterbricht damit die direkte Verbindungsstrecke zwischen Begehen und Balken. Typisch besteht ein solcher Aufbau aus einer Trittschalldämmung aus Mineralwolle oder Holzweichfaserplatten auf der Rohdecke, einer lastverteilenden Schicht aus Trockenestrich- oder Nassestrichplatten sowie umlaufenden Randstreifen, die den Aufbau akustisch von den aufgehenden Wänden entkoppeln. Entscheidend ist dabei: Ein einzelner Wert auf einem Produktdatenblatt beschreibt stets nur das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Schwimmender Aufbau als wirksamster Ansatz an der Bodenebene</a:t>
            </a:r>
          </a:p>
        </p:txBody>
      </p:sp>
      <p:sp>
        <p:nvSpPr>
          <p:cNvPr id="3" name="Content Placeholder 2"/>
          <p:cNvSpPr>
            <a:spLocks noGrp="1"/>
          </p:cNvSpPr>
          <p:nvPr>
            <p:ph idx="1"/>
          </p:nvPr>
        </p:nvSpPr>
        <p:spPr/>
        <p:txBody>
          <a:bodyPr/>
          <a:lstStyle/>
          <a:p>
            <a:pPr>
              <a:defRPr sz="1800"/>
            </a:pPr>
            <a:r>
              <a:t> Material, nicht die Wirkung der gesamten Konstruktion im eingebauten Zustand. Erst eine geprüfte Aufbau-Kombination im System erlaubt eine belastbare Aussage zur tatsächlichen Trittschallminderung.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als begrenzender Faktor für jeden Aufbau</a:t>
            </a:r>
          </a:p>
        </p:txBody>
      </p:sp>
      <p:sp>
        <p:nvSpPr>
          <p:cNvPr id="3" name="Content Placeholder 2"/>
          <p:cNvSpPr>
            <a:spLocks noGrp="1"/>
          </p:cNvSpPr>
          <p:nvPr>
            <p:ph idx="1"/>
          </p:nvPr>
        </p:nvSpPr>
        <p:spPr/>
        <p:txBody>
          <a:bodyPr/>
          <a:lstStyle/>
          <a:p>
            <a:pPr>
              <a:defRPr sz="1800"/>
            </a:pPr>
            <a:r>
              <a:t>Bevor ein schwimmender Aufbau geplant wird, muss die Tragfähigkeit der Holzbalkendecke beurteilt werden. Die Decke trägt nicht nur den neuen Bodenbelag, sondern den gesamten Aufbau einschließlich eventueller Schüttungen, Estrichlasten, Trennwandlasten und die latere Nutzung. Schüttungen und Nassestrich erhöhen die ständige Last pro Quadratmeter oft deutlich stärker als ein Trockenestrich. Spannweite, Balkenabstände und frühere Eingriffe wie entfernte Wände oder neu eingebrachte Öffnungen beeinflussen die Lastabtragung und gehören zur Bestandsaufnahme. Liegt die Tragfähigkeit bereits im Grenzbereich, sind Leichtbau-Aufbauten sinnvoller als sch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als begrenzender Faktor für jeden Aufbau</a:t>
            </a:r>
          </a:p>
        </p:txBody>
      </p:sp>
      <p:sp>
        <p:nvSpPr>
          <p:cNvPr id="3" name="Content Placeholder 2"/>
          <p:cNvSpPr>
            <a:spLocks noGrp="1"/>
          </p:cNvSpPr>
          <p:nvPr>
            <p:ph idx="1"/>
          </p:nvPr>
        </p:nvSpPr>
        <p:spPr/>
        <p:txBody>
          <a:bodyPr/>
          <a:lstStyle/>
          <a:p>
            <a:pPr>
              <a:defRPr sz="1800"/>
            </a:pPr>
            <a:r>
              <a:t>were Konstruktionen. Reicht die Reserve selbst dafür nicht, ist eine statisch geplante Verstärkung oder einzelner Balkentausch der notwendige erste Schritt – kein weiterer Bodenaufbau.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Flankierende Bauteile als oft unterschätzte Übertragungswege</a:t>
            </a:r>
          </a:p>
        </p:txBody>
      </p:sp>
      <p:sp>
        <p:nvSpPr>
          <p:cNvPr id="3" name="Content Placeholder 2"/>
          <p:cNvSpPr>
            <a:spLocks noGrp="1"/>
          </p:cNvSpPr>
          <p:nvPr>
            <p:ph idx="1"/>
          </p:nvPr>
        </p:nvSpPr>
        <p:spPr/>
        <p:txBody>
          <a:bodyPr/>
          <a:lstStyle/>
          <a:p>
            <a:pPr>
              <a:defRPr sz="1800"/>
            </a:pPr>
            <a:r>
              <a:t>Selbst ein technisch einwandfrei ausgeführter schwimmender Aufbau erreicht im Bestand häufig nicht das Trittschallniveau eines Neubaus. Der Grund liegt in der Schallübertragung über flankierende Bauteile, also über die Wände und Anschlüsse, die an die Holzbalkendecke grenzen und den Schall in den darunterliegenden Raum weiterleiten. Was im Bestand typischerweise fehlt, sind biegeweich abgehängte Unterdecken, die den Schallweg über die Decke zusätzlich verlängern, oder getrennte Wandkonstruktionen, die den Schallübertritt über die Flanken reduzieren. Wenn durchlaufende, nicht unterbrochene Bauteile an die Decke anschließen oder Installationen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Flankierende Bauteile als oft unterschätzte Übertragungswege</a:t>
            </a:r>
          </a:p>
        </p:txBody>
      </p:sp>
      <p:sp>
        <p:nvSpPr>
          <p:cNvPr id="3" name="Content Placeholder 2"/>
          <p:cNvSpPr>
            <a:spLocks noGrp="1"/>
          </p:cNvSpPr>
          <p:nvPr>
            <p:ph idx="1"/>
          </p:nvPr>
        </p:nvSpPr>
        <p:spPr/>
        <p:txBody>
          <a:bodyPr/>
          <a:lstStyle/>
          <a:p>
            <a:pPr>
              <a:defRPr sz="1800"/>
            </a:pPr>
            <a:r>
              <a:t>die schwimmende Ebene überbrücken, entstehen Schallbrücken, die die erreichte Trittschallminderung spürbar verringern. In Gebäuden, in denen die flankierenden Bauteile nicht mit in eine Sanierung einbezogen werden können, bleibt die Wirkung der Bodenebene daher oft begrenzt.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Schritte und realistische Erwartungen</a:t>
            </a:r>
          </a:p>
        </p:txBody>
      </p:sp>
      <p:sp>
        <p:nvSpPr>
          <p:cNvPr id="3" name="Content Placeholder 2"/>
          <p:cNvSpPr>
            <a:spLocks noGrp="1"/>
          </p:cNvSpPr>
          <p:nvPr>
            <p:ph idx="1"/>
          </p:nvPr>
        </p:nvSpPr>
        <p:spPr/>
        <p:txBody>
          <a:bodyPr/>
          <a:lstStyle/>
          <a:p>
            <a:pPr>
              <a:defRPr sz="1800"/>
            </a:pPr>
            <a:r>
              <a:t>Für Eigentümer empfiehlt sich ein schrittweises Vorgehen. Zunächst sollten Balkenabstände, sichtbare Auflager und frühere Öffnungen dokumentiert sowie die Balkenköpfe auf Hinweise von Feuchte oder eingeschränkte Rücktrocknung geprüft werden. Danach lassen sich die Lasten aus geplanten Aufbauten mit den vorhandenen Reserven abgleichen. Bodenebene und flankierende Wege sollten von Anfang an gemeinsam gedacht werden, denn ein Aufbau allein bringt wenig, wenn die Schallübertragung über die Wände weiterhin dominant ist. Eine pauschale Empfehlung für einen bestimmten Trittschallwert hängt stets von der geplanten Nutzung der Räume ab. Wer den Bestan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Schritte und realistische Erwartungen</a:t>
            </a:r>
          </a:p>
        </p:txBody>
      </p:sp>
      <p:sp>
        <p:nvSpPr>
          <p:cNvPr id="3" name="Content Placeholder 2"/>
          <p:cNvSpPr>
            <a:spLocks noGrp="1"/>
          </p:cNvSpPr>
          <p:nvPr>
            <p:ph idx="1"/>
          </p:nvPr>
        </p:nvSpPr>
        <p:spPr/>
        <p:txBody>
          <a:bodyPr/>
          <a:lstStyle/>
          <a:p>
            <a:pPr>
              <a:defRPr sz="1800"/>
            </a:pPr>
            <a:r>
              <a:t>d, die Tragfähigkeit und die flankierenden Bauteile von Anfang an gemeinsam betrachtet, vermeidet Aufbauten, die mehr Gewicht oder mehr Aufwand erzeugen, als sie an Trittschallverbesserung bewirken.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Trittschall an der Holzbalkendecke: was im Bestand wirklich hilft – und wo Sanierungen an Grenzen stoßen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