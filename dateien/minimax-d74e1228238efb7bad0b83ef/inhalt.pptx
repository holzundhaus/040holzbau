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holzbau.wordpress.com/2026/10/27/gartenhaus-untergrund-fundament-bodenkontakt/" TargetMode="External"/><Relationship Id="rId3" Type="http://schemas.openxmlformats.org/officeDocument/2006/relationships/hyperlink" Target="https://holzundhaus.github.io/040holzbau/dateien/minimax-d74e1228238efb7bad0b83e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Gartenhaus aufstellen: Untergrund, Fundament und Bodenkontakt der Hölzer · Erklärende Präsentation</a:t>
            </a:r>
          </a:p>
        </p:txBody>
      </p:sp>
      <p:sp>
        <p:nvSpPr>
          <p:cNvPr id="3" name="Content Placeholder 2"/>
          <p:cNvSpPr>
            <a:spLocks noGrp="1"/>
          </p:cNvSpPr>
          <p:nvPr>
            <p:ph idx="1"/>
          </p:nvPr>
        </p:nvSpPr>
        <p:spPr/>
        <p:txBody>
          <a:bodyPr/>
          <a:lstStyle/>
          <a:p>
            <a:r>
              <a:t>Überblick: Ein Gartenhaus kann nur dann dauerhaft funktionieren, wenn Untergrund, Gründung, Entwässerung und Holzaufbau zusammengedacht werden. Entscheidend ist insbesondere, dass die Hölzer weder dauerhaft im Erdreich stehen noch Feuchtigkeit aus dem Boden aufnehmen. Dieser Leitfaden zeigt, welche Fragen vor der Lieferung oder dem Aufbau geklärt werden sollten. Die ergänzenden Hinweise zur [Untergrund- und Fundamentplanung](https://040holzbau.wordpress.com/2026/10/27/gartenhaus-untergrund-fundament-bodenkontakt/) sowie die [Gartenhaus-Seite zur übergreifenden Planung](https://www.040holzbau.de/gartenhaus/) dienen dabei als Orientierung.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 vor dem Aushub bewerten</a:t>
            </a:r>
          </a:p>
        </p:txBody>
      </p:sp>
      <p:sp>
        <p:nvSpPr>
          <p:cNvPr id="3" name="Content Placeholder 2"/>
          <p:cNvSpPr>
            <a:spLocks noGrp="1"/>
          </p:cNvSpPr>
          <p:nvPr>
            <p:ph idx="1"/>
          </p:nvPr>
        </p:nvSpPr>
        <p:spPr/>
        <p:txBody>
          <a:bodyPr/>
          <a:lstStyle/>
          <a:p>
            <a:pPr>
              <a:defRPr sz="1800"/>
            </a:pPr>
            <a:r>
              <a:t>Vor dem Ausheben sollte der geplante Platz umfassend betrachtet werden. Wichtig sind das natürliche Gefälle, die Zugänglichkeit für Material und spätere Wege, die Sonneneinstrahlung sowie mögliche Leitungen im Boden. Regenwasser darf nicht zum Gartenhaus hinlaufen und sich dort sammeln. Eine gute Zugänglichkeit muss auch bei Nässe gewährleistet bleiben, damit Material transportiert und der Zugang zum Gartenhaus genutzt werden kann. Strom-, Wasser- oder Leerrohre können unter der Fläche liegen und müssen vor dem Aushub bekannt sein. Diese Prüfungen helfen, spätere Unterbrechungen oder aufwendige Korrekturen zu vermeiden.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Bodenart und Tragfähigkeit berücksichtigen</a:t>
            </a:r>
          </a:p>
        </p:txBody>
      </p:sp>
      <p:sp>
        <p:nvSpPr>
          <p:cNvPr id="3" name="Content Placeholder 2"/>
          <p:cNvSpPr>
            <a:spLocks noGrp="1"/>
          </p:cNvSpPr>
          <p:nvPr>
            <p:ph idx="1"/>
          </p:nvPr>
        </p:nvSpPr>
        <p:spPr/>
        <p:txBody>
          <a:bodyPr/>
          <a:lstStyle/>
          <a:p>
            <a:pPr>
              <a:defRPr sz="1800"/>
            </a:pPr>
            <a:r>
              <a:t>Nicht jeder Gartenboden eignet sich gleich gut für die Aufnahme eines Gartenhauses. Lehm und andere bindige Böden können Wasser länger halten. Aufgefüllte Flächen können ungleichmäßig nachgeben. Für Punktfundamente oder eine Bodenplatte wird daher ein verdichteter, tragfähiger Untergrund benötigt. Ist der Boden weich oder ungleichmäßig, kann eine tiefere Ausgrabung, eine zusätzliche Tragschicht oder eine flächige Gründung erforderlich sein. Welche Variante sinnvoll ist, hängt von der Größe des Bausatzes, der vorgesehenen Nutzung, der Bauweise und den örtlichen Bodenverhältnissen ab. Eine sichere Einschätzung der Tragfähigkeit sollte deshalb 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Bodenart und Tragfähigkeit berücksichtigen</a:t>
            </a:r>
          </a:p>
        </p:txBody>
      </p:sp>
      <p:sp>
        <p:nvSpPr>
          <p:cNvPr id="3" name="Content Placeholder 2"/>
          <p:cNvSpPr>
            <a:spLocks noGrp="1"/>
          </p:cNvSpPr>
          <p:nvPr>
            <p:ph idx="1"/>
          </p:nvPr>
        </p:nvSpPr>
        <p:spPr/>
        <p:txBody>
          <a:bodyPr/>
          <a:lstStyle/>
          <a:p>
            <a:pPr>
              <a:defRPr sz="1800"/>
            </a:pPr>
            <a:r>
              <a:t>or der Bestellung oder Umsetzung erfolgen.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vom Holz fernhalten</a:t>
            </a:r>
          </a:p>
        </p:txBody>
      </p:sp>
      <p:sp>
        <p:nvSpPr>
          <p:cNvPr id="3" name="Content Placeholder 2"/>
          <p:cNvSpPr>
            <a:spLocks noGrp="1"/>
          </p:cNvSpPr>
          <p:nvPr>
            <p:ph idx="1"/>
          </p:nvPr>
        </p:nvSpPr>
        <p:spPr/>
        <p:txBody>
          <a:bodyPr/>
          <a:lstStyle/>
          <a:p>
            <a:pPr>
              <a:defRPr sz="1800"/>
            </a:pPr>
            <a:r>
              <a:t>Holz kann kurzfristige Feuchtigkeit aufnehmen, sollte aber nicht dauerhaft mit feuchtem Boden in Kontakt stehen. Stehendes Wasser, aufsteigende Feuchtigkeit und Spritzwasser belasten insbesondere die unteren Hirn- und Stirnflächen der Hölzer. Zwischen Holz und Erdreich ist deshalb ein klarer Abstand erforderlich. Dieser kann durch ein Fundament, eine erhöhte Schwelle oder ein Bodenraster hergestellt werden. Wichtig ist außerdem, dass die feuchten Bauteile später wieder trocknen können. Dachüberstände oder eine Oberflächenbehandlung allein ersetzen die Trennung vom feuchten Boden nicht. Unterbau, Holzaufbau, Dachdeckung und Entwässerung müssen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Feuchtigkeit vom Holz fernhalten</a:t>
            </a:r>
          </a:p>
        </p:txBody>
      </p:sp>
      <p:sp>
        <p:nvSpPr>
          <p:cNvPr id="3" name="Content Placeholder 2"/>
          <p:cNvSpPr>
            <a:spLocks noGrp="1"/>
          </p:cNvSpPr>
          <p:nvPr>
            <p:ph idx="1"/>
          </p:nvPr>
        </p:nvSpPr>
        <p:spPr/>
        <p:txBody>
          <a:bodyPr/>
          <a:lstStyle/>
          <a:p>
            <a:pPr>
              <a:defRPr sz="1800"/>
            </a:pPr>
            <a:r>
              <a:t> deshalb als zusammenhängendes Konzept geplant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Gründung auswählen</a:t>
            </a:r>
          </a:p>
        </p:txBody>
      </p:sp>
      <p:sp>
        <p:nvSpPr>
          <p:cNvPr id="3" name="Content Placeholder 2"/>
          <p:cNvSpPr>
            <a:spLocks noGrp="1"/>
          </p:cNvSpPr>
          <p:nvPr>
            <p:ph idx="1"/>
          </p:nvPr>
        </p:nvSpPr>
        <p:spPr/>
        <p:txBody>
          <a:bodyPr/>
          <a:lstStyle/>
          <a:p>
            <a:pPr>
              <a:defRPr sz="1800"/>
            </a:pPr>
            <a:r>
              <a:t>Für die Unterkonstruktion kommen je nach Baukörper und Nutzung unterschiedliche Lösungen infrage. Punktfundamente aus Beton werden an Eckpunkten und unter tragenden Pfosten eingesetzt und können für kleine Gartenhäuser wirtschaftlich sein. Streifenfundamente eignen sich für längere Wandseiten, wenn die Lasten gleichmäßig verteilt werden sollen. Eine Betonbodenplatte bildet eine flächige, trockene Grundlage und kann bei beheizter oder wohnlicher Nutzung passen. Für leichte Gerätehäuser können Gehwegplatten oder Stellpads auf einem bereits tragfähigen und sickerfähigen Untergrund genügen. Entscheidend ist, dass die gewählte Gründung zum Bausatz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Passende Gründung auswählen</a:t>
            </a:r>
          </a:p>
        </p:txBody>
      </p:sp>
      <p:sp>
        <p:nvSpPr>
          <p:cNvPr id="3" name="Content Placeholder 2"/>
          <p:cNvSpPr>
            <a:spLocks noGrp="1"/>
          </p:cNvSpPr>
          <p:nvPr>
            <p:ph idx="1"/>
          </p:nvPr>
        </p:nvSpPr>
        <p:spPr/>
        <p:txBody>
          <a:bodyPr/>
          <a:lstStyle/>
          <a:p>
            <a:pPr>
              <a:defRPr sz="1800"/>
            </a:pPr>
            <a:r>
              <a:t> oder zur individuellen Konstruktion passt und die Lasten dauerhaft abträgt.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Lieferung und Aufbau</a:t>
            </a:r>
          </a:p>
        </p:txBody>
      </p:sp>
      <p:sp>
        <p:nvSpPr>
          <p:cNvPr id="3" name="Content Placeholder 2"/>
          <p:cNvSpPr>
            <a:spLocks noGrp="1"/>
          </p:cNvSpPr>
          <p:nvPr>
            <p:ph idx="1"/>
          </p:nvPr>
        </p:nvSpPr>
        <p:spPr/>
        <p:txBody>
          <a:bodyPr/>
          <a:lstStyle/>
          <a:p>
            <a:pPr>
              <a:defRPr sz="1800"/>
            </a:pPr>
            <a:r>
              <a:t>Vor der Lieferung beziehungsweise dem Aufbau sollten die wesentlichen Punkte schriftlich geklärt sein: Der Standort ist hinsichtlich Gefälle, Sonneneinstrahlung und Zugang festgelegt. Die Tragfähigkeit des Bodens ist bewertet und eine Tragschicht ist bei Bedarf vorgesehen. Leitungen und mögliche Hindernisse im Erdreich sind bekannt. Der Fundamenttyp entspricht Nutzung und Bausatz. Zwischen Holz und Erdreich bleibt ausreichend Abstand, und die spätere Rücktrocknung ist möglich. Außerdem sind die Regenwasserführung und der Zugang zur Tür berücksichtigt. Wer diese Punkte gemeinsam prüft, schafft die Grundlage für einen fachlich stimmigen Aufbau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vor Lieferung und Aufbau</a:t>
            </a:r>
          </a:p>
        </p:txBody>
      </p:sp>
      <p:sp>
        <p:nvSpPr>
          <p:cNvPr id="3" name="Content Placeholder 2"/>
          <p:cNvSpPr>
            <a:spLocks noGrp="1"/>
          </p:cNvSpPr>
          <p:nvPr>
            <p:ph idx="1"/>
          </p:nvPr>
        </p:nvSpPr>
        <p:spPr/>
        <p:txBody>
          <a:bodyPr/>
          <a:lstStyle/>
          <a:p>
            <a:pPr>
              <a:defRPr sz="1800"/>
            </a:pPr>
            <a:r>
              <a:t>in Hamburg und eine anschließende Anfrage zur passenden Gartenhausplanung.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Gartenhaus aufstellen: Untergrund, Fundament und Bodenkontakt der Hölzer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